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2D1E3-2004-453C-8097-1B80F42173C4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8EA80-4AE3-462A-80D3-73B06B4362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04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8EA80-4AE3-462A-80D3-73B06B4362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29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SP Pass / MoE Pass：用户设置如何决定 fused MoE 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模型：Qwen3-30B-A3B（hidden = </a:t>
            </a:r>
            <a:r>
              <a:rPr sz="1050" b="1">
                <a:solidFill>
                  <a:srgbClr val="64748B"/>
                </a:solidFill>
                <a:latin typeface="Microsoft YaHei"/>
              </a:rPr>
              <a:t>2048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，48 层，128 experts top-8，TP=2 时每 rank q = 16 heads × 128、kv = 2 heads × 128）。</a:t>
            </a:r>
            <a:r>
              <a:rPr sz="1050" b="0">
                <a:solidFill>
                  <a:srgbClr val="64748B"/>
                </a:solidFill>
                <a:latin typeface="Consolas"/>
              </a:rPr>
              <a:t>T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 = 单 DP rank 总 token 数，</a:t>
            </a:r>
            <a:r>
              <a:rPr sz="1050" b="0">
                <a:solidFill>
                  <a:srgbClr val="64748B"/>
                </a:solidFill>
                <a:latin typeface="Consolas"/>
              </a:rPr>
              <a:t>T/2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 = TP=2 分片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DP=2, TP=2, enable_ep ✓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Microsoft YaHei"/>
              </a:rPr>
              <a:t>另需 </a:t>
            </a:r>
            <a:r>
              <a:rPr sz="850" b="1">
                <a:solidFill>
                  <a:srgbClr val="475569"/>
                </a:solidFill>
                <a:latin typeface="Consolas"/>
              </a:rPr>
              <a:t>pass_config.enable_sp</a:t>
            </a:r>
            <a:r>
              <a:rPr sz="850" b="0">
                <a:solidFill>
                  <a:srgbClr val="475569"/>
                </a:solidFill>
                <a:latin typeface="Microsoft YaHei"/>
              </a:rPr>
              <a:t> 且非 eager（enable_sp_by_pass）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143000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EP size = DP × TP = </a:t>
            </a:r>
            <a:r>
              <a:rPr sz="900" b="1">
                <a:solidFill>
                  <a:srgbClr val="475569"/>
                </a:solidFill>
                <a:latin typeface="Microsoft YaHei"/>
              </a:rPr>
              <a:t>4</a:t>
            </a:r>
            <a:r>
              <a:rPr sz="900" b="0">
                <a:solidFill>
                  <a:srgbClr val="475569"/>
                </a:solidFill>
                <a:latin typeface="Microsoft YaHei"/>
              </a:rPr>
              <a:t>（内部推导，用户只设 enable_ep）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use_sequence_parallel_moe ⟸ DP&gt;1 &amp;&amp; TP&gt;1 &amp;&amp; enableEP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43000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① SP + EP MoE 模式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 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token 分片 [T/2,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 EP all2all（32 experts/rank），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不做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最终 TP all_reduce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×48 + MoE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（每 48 层 × 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43000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441448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DP=1, TP=2, enable_ep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41448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EP size = 1 × 2 = </a:t>
            </a:r>
            <a:r>
              <a:rPr sz="900" b="1">
                <a:solidFill>
                  <a:srgbClr val="475569"/>
                </a:solidFill>
                <a:latin typeface="Microsoft YaHei"/>
              </a:rPr>
              <a:t>2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DP=1 ⇒ 不满足 SP MoE 条件，MoE 非 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441448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② TP 模式（EP on）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完整 tensor [T,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 EP all2all（64 experts/rank）+ 最终 TP all_reduce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（每层 2 处：o_proj 后、MoE 后）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441448"/>
            <a:ext cx="64008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739896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TP=2, enable_ep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739896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无 EP group；expert 权重按 TP 切分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（intermediate 768 → 384/rank）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39896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③ TP 模式（EP off）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完整 tensor [T,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无 all2all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，外部 all_gather / reduce_scatter 充当 dispatch / combine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（同 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739896"/>
            <a:ext cx="64008" cy="11704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" rIns="137160" bIns="9144" rtlCol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SP pass  </a:t>
            </a:r>
            <a:r>
              <a:rPr sz="1000" b="0">
                <a:solidFill>
                  <a:srgbClr val="3730A3"/>
                </a:solidFill>
                <a:latin typeface="Consolas"/>
              </a:rPr>
              <a:t>all_reduce + AddRMSNorm → reduce_scatter + AddRMSNorm + all_gather</a:t>
            </a:r>
            <a:r>
              <a:rPr sz="1000" b="0">
                <a:solidFill>
                  <a:srgbClr val="1E293B"/>
                </a:solidFill>
                <a:latin typeface="Microsoft YaHei"/>
              </a:rPr>
              <a:t>（norm 挪到分片上算）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MoE pass  </a:t>
            </a:r>
            <a:r>
              <a:rPr sz="1000" b="0">
                <a:solidFill>
                  <a:srgbClr val="3730A3"/>
                </a:solidFill>
                <a:latin typeface="Consolas"/>
              </a:rPr>
              <a:t>① all_gather + sp_chunk → identity；② all_gather + slice + norm → norm + all_gather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93B"/>
                </a:solidFill>
                <a:latin typeface="Microsoft YaHei"/>
              </a:rPr>
              <a:t>生效条件：</a:t>
            </a:r>
            <a:r>
              <a:rPr sz="1000" b="0">
                <a:solidFill>
                  <a:srgbClr val="3730A3"/>
                </a:solidFill>
                <a:latin typeface="Consolas"/>
              </a:rPr>
              <a:t>compile_range.start ≥ sp_min_token_num</a:t>
            </a:r>
            <a:r>
              <a:rPr sz="1000" b="0">
                <a:solidFill>
                  <a:srgbClr val="1E293B"/>
                </a:solidFill>
                <a:latin typeface="Microsoft YaHei"/>
              </a:rPr>
              <a:t>（MoE 模型默认 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5720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1E293B"/>
                </a:solidFill>
                <a:latin typeface="Microsoft YaHei"/>
              </a:rPr>
              <a:t>TP</a:t>
            </a:r>
            <a:endParaRPr sz="1100" b="1" dirty="0">
              <a:solidFill>
                <a:srgbClr val="1E293B"/>
              </a:solidFill>
              <a:latin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1E293B"/>
                </a:solidFill>
                <a:latin typeface="Microsoft YaHei"/>
              </a:rPr>
              <a:t>TP+SP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输出（token 分片）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[T/2, 2048]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670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4442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all_gather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(TP)</a:t>
            </a: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输出被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gather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成完整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tensor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524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297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maybe_chunk_residual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+ </a:t>
            </a:r>
            <a:r>
              <a:rPr sz="950" b="1" dirty="0" err="1">
                <a:solidFill>
                  <a:srgbClr val="FFFFFF"/>
                </a:solidFill>
                <a:latin typeface="Consolas"/>
              </a:rPr>
              <a:t>npu_add_rms_norm_bias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37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8151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233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0006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088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860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594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715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all_reduce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o_proj 行并行求和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7797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569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maybe_chunk_residual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+ </a:t>
            </a:r>
            <a:r>
              <a:rPr sz="950" b="1" dirty="0" err="1">
                <a:solidFill>
                  <a:srgbClr val="FFFFFF"/>
                </a:solidFill>
                <a:latin typeface="Consolas"/>
              </a:rPr>
              <a:t>npu_add_rms_norm_bias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9651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7424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sequence_parallel_chunk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切回本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rank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分片喂给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01506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9278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× [2048, 128] → [T/2, 128]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3360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1133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moe_forward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in [T/2, 2048] → out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内部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EP all2all（32 experts/rank），无 TP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all_reduce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132588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输出（token 分片）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[T/2, 2048]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3182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70954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strike="sngStrike">
                <a:solidFill>
                  <a:srgbClr val="94A3B8"/>
                </a:solidFill>
                <a:latin typeface="Consolas"/>
              </a:rPr>
              <a:t>all_gather + slice（MoE 输出后）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94A3B8"/>
                </a:solidFill>
                <a:latin typeface="Microsoft YaHei"/>
              </a:rPr>
              <a:t>pattern ②：gather 挪到 norm 之后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15490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093214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399157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476881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pattern ② 挪到此处，供 attention 完整序列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782824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860548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1664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244215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550158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627882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33825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011549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SP pass：o_proj 后 all_reduce 已拆分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17492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395216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701159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778883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strike="sngStrike" dirty="0" err="1">
                <a:solidFill>
                  <a:srgbClr val="94A3B8"/>
                </a:solidFill>
                <a:latin typeface="Consolas"/>
              </a:rPr>
              <a:t>all_gather</a:t>
            </a:r>
            <a:r>
              <a:rPr sz="950" b="1" strike="sngStrike" dirty="0">
                <a:solidFill>
                  <a:srgbClr val="94A3B8"/>
                </a:solidFill>
                <a:latin typeface="Consolas"/>
              </a:rPr>
              <a:t> + </a:t>
            </a:r>
            <a:r>
              <a:rPr sz="950" b="1" strike="sngStrike" dirty="0" err="1">
                <a:solidFill>
                  <a:srgbClr val="94A3B8"/>
                </a:solidFill>
                <a:latin typeface="Consolas"/>
              </a:rPr>
              <a:t>sequence_parallel_chunk</a:t>
            </a:r>
            <a:endParaRPr sz="950" b="1" strike="sngStrike" dirty="0">
              <a:solidFill>
                <a:srgbClr val="94A3B8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94A3B8"/>
                </a:solidFill>
                <a:latin typeface="Microsoft YaHei"/>
              </a:rPr>
              <a:t>SP pass </a:t>
            </a:r>
            <a:r>
              <a:rPr sz="700" b="0" dirty="0" err="1">
                <a:solidFill>
                  <a:srgbClr val="94A3B8"/>
                </a:solidFill>
                <a:latin typeface="Microsoft YaHei"/>
              </a:rPr>
              <a:t>制造的恒等往返，被</a:t>
            </a:r>
            <a:r>
              <a:rPr sz="700" b="0" dirty="0">
                <a:solidFill>
                  <a:srgbClr val="94A3B8"/>
                </a:solidFill>
                <a:latin typeface="Microsoft YaHei"/>
              </a:rPr>
              <a:t> pattern ① </a:t>
            </a:r>
            <a:r>
              <a:rPr sz="700" b="0" dirty="0" err="1">
                <a:solidFill>
                  <a:srgbClr val="94A3B8"/>
                </a:solidFill>
                <a:latin typeface="Microsoft YaHei"/>
              </a:rPr>
              <a:t>折叠</a:t>
            </a:r>
            <a:endParaRPr sz="700" b="0" dirty="0">
              <a:solidFill>
                <a:srgbClr val="94A3B8"/>
              </a:solidFill>
              <a:latin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0" y="50848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16255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× [2048, 128] → [T/2, 128]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直接在分片上算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46849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54621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moe_forward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in [T/2, 2048] → out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输出直接交给下一层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norm（保持分片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）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7488EFC-2CFE-557F-2FB8-626A909C394C}"/>
              </a:ext>
            </a:extLst>
          </p:cNvPr>
          <p:cNvSpPr txBox="1"/>
          <p:nvPr/>
        </p:nvSpPr>
        <p:spPr>
          <a:xfrm>
            <a:off x="4538870" y="3933825"/>
            <a:ext cx="156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Reduce scatter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F075B0-7B38-DA21-A065-D9865C2E5AC6}"/>
              </a:ext>
            </a:extLst>
          </p:cNvPr>
          <p:cNvSpPr txBox="1"/>
          <p:nvPr/>
        </p:nvSpPr>
        <p:spPr>
          <a:xfrm>
            <a:off x="4711148" y="4490133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allgather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C746C47-4B47-4EB7-3676-8B216CEF41D5}"/>
              </a:ext>
            </a:extLst>
          </p:cNvPr>
          <p:cNvSpPr txBox="1"/>
          <p:nvPr/>
        </p:nvSpPr>
        <p:spPr>
          <a:xfrm>
            <a:off x="4931842" y="419903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rms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25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1E293B"/>
                </a:solidFill>
                <a:latin typeface="Microsoft YaHei"/>
              </a:rPr>
              <a:t>② TP </a:t>
            </a:r>
            <a:r>
              <a:rPr sz="2000" b="1" dirty="0" err="1">
                <a:solidFill>
                  <a:srgbClr val="1E293B"/>
                </a:solidFill>
                <a:latin typeface="Microsoft YaHei"/>
              </a:rPr>
              <a:t>模式（DP</a:t>
            </a:r>
            <a:r>
              <a:rPr sz="2000" b="1" dirty="0">
                <a:solidFill>
                  <a:srgbClr val="1E293B"/>
                </a:solidFill>
                <a:latin typeface="Microsoft YaHei"/>
              </a:rPr>
              <a:t>=1, TP=2, EP=2，MoE 非 SP）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4748B"/>
                </a:solidFill>
                <a:latin typeface="Microsoft YaHei"/>
              </a:rPr>
              <a:t>只有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SP pass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生效：每层替换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2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处（o_proj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后、MoE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输出后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），48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层共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96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处。fused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MoE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完整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tensor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进、完整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tensor 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Before（原始图）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After（SP ×96）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334155"/>
                </a:solidFill>
                <a:latin typeface="Consolas"/>
              </a:rPr>
              <a:t>上一层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</a:t>
            </a:r>
            <a:r>
              <a:rPr sz="950" b="1" dirty="0" err="1">
                <a:solidFill>
                  <a:srgbClr val="334155"/>
                </a:solidFill>
                <a:latin typeface="Consolas"/>
              </a:rPr>
              <a:t>MoE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</a:t>
            </a:r>
            <a:r>
              <a:rPr sz="950" b="1" dirty="0" err="1">
                <a:solidFill>
                  <a:srgbClr val="334155"/>
                </a:solidFill>
                <a:latin typeface="Consolas"/>
              </a:rPr>
              <a:t>输出（完整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tensor）</a:t>
            </a: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85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62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maybe_all_reduce_tensor_model_parallel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内部最终的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TP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all_reduce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1689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66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93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70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97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674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501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278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105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882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all_reduce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709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486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13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090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17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694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内部 EP all2all（64 experts/rank）+ 最终 TP all_reduce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2588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输出（完整 tensor）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3182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70954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reduce_scatter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(TP)</a:t>
            </a:r>
            <a:r>
              <a:rPr lang="en-US" sz="950" b="1" dirty="0">
                <a:solidFill>
                  <a:srgbClr val="FFFFFF"/>
                </a:solidFill>
                <a:latin typeface="Consolas"/>
              </a:rPr>
              <a:t>659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SP pass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替换点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②：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后的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maybe_all_reduce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2015490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93214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399157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476881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attention 需要完整序列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782824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860548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1664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244215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550158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627882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33825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11549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SP pass 替换点 ①：o_proj 后的 all_reduce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317492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395216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01159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778883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MoE 要求完整 tensor 输入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848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6255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46849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54621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输入输出均为完整 tensor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25312"/>
            <a:ext cx="11292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两处 all_reduce（o_proj 后、MoE 后的 maybe_all_reduce）都被拆成 reduce_scatter + all_gather，中间 norm 在 [T/2, 2048] 分片上算。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MoE 入口前必须 all_gather 回 [T, 2048]：该模式 fused MoE 要求完整 tensor。通信量不减（all_reduce ≈ RS+AG），收益在 norm 计算减半与通信/计算重叠。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③ TP 模式，EP off（TP=2）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外部数据流与情况 ② After 完全相同（SP pass ×96）；区别只在 fused MoE 内部。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987552"/>
            <a:ext cx="608076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After（SP ×96，同情况 ②）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25880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输出（完整 tensor）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631823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09547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充当 expert combine 的前半段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15490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093214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99157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476881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82824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60548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66491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244215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50158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627882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933825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011549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17492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395216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701159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4778883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充当 expert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84826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5162550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468493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5546217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无 all2all；expert 按 TP 切分（intermediate 768 → 384/rank）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25312"/>
            <a:ext cx="11292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MoE 内部无 all2all：expert 权重按 TP 切分（moe_intermediate 768 → 384/rank），输入输出均为 [T, 2048] 完整 tensor。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MoE 前的 all_gather 实际充当 expert </a:t>
            </a:r>
            <a:r>
              <a:rPr sz="950" b="1">
                <a:solidFill>
                  <a:srgbClr val="1E293B"/>
                </a:solidFill>
                <a:latin typeface="Microsoft YaHei"/>
              </a:rPr>
              <a:t>dispatch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，MoE 后的 reduce_scatter + all_gather 充当 </a:t>
            </a:r>
            <a:r>
              <a:rPr sz="950" b="1">
                <a:solidFill>
                  <a:srgbClr val="1E293B"/>
                </a:solidFill>
                <a:latin typeface="Microsoft YaHei"/>
              </a:rPr>
              <a:t>combine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三种模式对比总结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92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配置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fused MoE 输入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MoE 内部通信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fused MoE 输出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pass 替换数（48 层）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替换后每层外部通信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SP + EP 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DP2 / TP2 / EP4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[T/2, 2048] 分片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EP all2all，无最终 all_reduce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[T/2, 2048] 分片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×48 + MoE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1 all_gather + 1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TP（EP 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DP1 / TP2 / EP2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EP all2all + 最终 TP all_reduce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2 all_gather + 2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TP（EP off）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TP2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无 all2all；expert 按 TP 切分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2 all_gather + 2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880360"/>
            <a:ext cx="11292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" rIns="164592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93B"/>
                </a:solidFill>
                <a:latin typeface="Microsoft YaHei"/>
              </a:rPr>
              <a:t>一句话理解：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SP+EP MoE 模式下 MoE 输出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天然就是分片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，任何「gather 完整 tensor」的动作都是浪费，MoE pass 的全部工作就是把这两处浪费消掉；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而 TP 模式下 MoE 要完整 tensor，SP pass 只能在 norm 前后做 reduce_scatter / all_gather 配对，通信次数降不下来。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上游 vLLM 的做法是 all_gather 后 slice 成分片输入，效果类似但多一次 gather。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通信算子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2728" y="5486400"/>
            <a:ext cx="2468880" cy="292608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AddRMSNorm（含 residual）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54864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GEMM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4296" y="5486400"/>
            <a:ext cx="1161288" cy="2926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52744" y="5486400"/>
            <a:ext cx="1161288" cy="29260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fused MoE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5486400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34155"/>
                </a:solidFill>
                <a:latin typeface="Microsoft YaHei"/>
              </a:rPr>
              <a:t>层间输入/输出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8472" y="5486400"/>
            <a:ext cx="146304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被 pass 消除的算子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4087</TotalTime>
  <Words>2240</Words>
  <Application>Microsoft Office PowerPoint</Application>
  <PresentationFormat>宽屏</PresentationFormat>
  <Paragraphs>247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xurongsheng</cp:lastModifiedBy>
  <cp:revision>6</cp:revision>
  <dcterms:created xsi:type="dcterms:W3CDTF">2013-01-27T09:14:16Z</dcterms:created>
  <dcterms:modified xsi:type="dcterms:W3CDTF">2026-09-09T08:45:52Z</dcterms:modified>
  <cp:category/>
</cp:coreProperties>
</file>