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70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92D1E3-2004-453C-8097-1B80F42173C4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A8EA80-4AE3-462A-80D3-73B06B4362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9049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A8EA80-4AE3-462A-80D3-73B06B436273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9729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square" lIns="0" tIns="9144" rIns="0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293B"/>
                </a:solidFill>
                <a:latin typeface="Microsoft YaHei"/>
              </a:rPr>
              <a:t>SP Pass / MoE Pass：用户设置如何决定 fused MoE 的模式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lIns="0" tIns="9144" rIns="0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icrosoft YaHei"/>
              </a:rPr>
              <a:t>模型：Qwen3-30B-A3B（hidden = </a:t>
            </a:r>
            <a:r>
              <a:rPr sz="1050" b="1">
                <a:solidFill>
                  <a:srgbClr val="64748B"/>
                </a:solidFill>
                <a:latin typeface="Microsoft YaHei"/>
              </a:rPr>
              <a:t>2048</a:t>
            </a:r>
            <a:r>
              <a:rPr sz="1050" b="0">
                <a:solidFill>
                  <a:srgbClr val="64748B"/>
                </a:solidFill>
                <a:latin typeface="Microsoft YaHei"/>
              </a:rPr>
              <a:t>，48 层，128 experts top-8，TP=2 时每 rank q = 16 heads × 128、kv = 2 heads × 128）。</a:t>
            </a:r>
            <a:r>
              <a:rPr sz="1050" b="0">
                <a:solidFill>
                  <a:srgbClr val="64748B"/>
                </a:solidFill>
                <a:latin typeface="Consolas"/>
              </a:rPr>
              <a:t>T</a:t>
            </a:r>
            <a:r>
              <a:rPr sz="1050" b="0">
                <a:solidFill>
                  <a:srgbClr val="64748B"/>
                </a:solidFill>
                <a:latin typeface="Microsoft YaHei"/>
              </a:rPr>
              <a:t> = 单 DP rank 总 token 数，</a:t>
            </a:r>
            <a:r>
              <a:rPr sz="1050" b="0">
                <a:solidFill>
                  <a:srgbClr val="64748B"/>
                </a:solidFill>
                <a:latin typeface="Consolas"/>
              </a:rPr>
              <a:t>T/2</a:t>
            </a:r>
            <a:r>
              <a:rPr sz="1050" b="0">
                <a:solidFill>
                  <a:srgbClr val="64748B"/>
                </a:solidFill>
                <a:latin typeface="Microsoft YaHei"/>
              </a:rPr>
              <a:t> = TP=2 分片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2880360" cy="1170432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" bIns="9144" rtlCol="0" anchor="ctr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DP=2, TP=2, enable_ep ✓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475569"/>
                </a:solidFill>
                <a:latin typeface="Microsoft YaHei"/>
              </a:rPr>
              <a:t>另需 </a:t>
            </a:r>
            <a:r>
              <a:rPr sz="850" b="1">
                <a:solidFill>
                  <a:srgbClr val="475569"/>
                </a:solidFill>
                <a:latin typeface="Consolas"/>
              </a:rPr>
              <a:t>pass_config.enable_sp</a:t>
            </a:r>
            <a:r>
              <a:rPr sz="850" b="0">
                <a:solidFill>
                  <a:srgbClr val="475569"/>
                </a:solidFill>
                <a:latin typeface="Microsoft YaHei"/>
              </a:rPr>
              <a:t> 且非 eager（enable_sp_by_pass）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20440" y="1143000"/>
            <a:ext cx="3154680" cy="1170432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94A3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" bIns="9144" rtlCol="0" anchor="ctr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75569"/>
                </a:solidFill>
                <a:latin typeface="Microsoft YaHei"/>
              </a:rPr>
              <a:t>EP size = DP × TP = </a:t>
            </a:r>
            <a:r>
              <a:rPr sz="900" b="1">
                <a:solidFill>
                  <a:srgbClr val="475569"/>
                </a:solidFill>
                <a:latin typeface="Microsoft YaHei"/>
              </a:rPr>
              <a:t>4</a:t>
            </a:r>
            <a:r>
              <a:rPr sz="900" b="0">
                <a:solidFill>
                  <a:srgbClr val="475569"/>
                </a:solidFill>
                <a:latin typeface="Microsoft YaHei"/>
              </a:rPr>
              <a:t>（内部推导，用户只设 enable_ep）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475569"/>
                </a:solidFill>
                <a:latin typeface="Microsoft YaHei"/>
              </a:rPr>
              <a:t>use_sequence_parallel_moe ⟸ DP&gt;1 &amp;&amp; TP&gt;1 &amp;&amp; enableEP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143000"/>
            <a:ext cx="4892040" cy="11704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" rIns="128016" bIns="9144" rtlCol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E293B"/>
                </a:solidFill>
                <a:latin typeface="Microsoft YaHei"/>
              </a:rPr>
              <a:t>① SP + EP MoE 模式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1E293B"/>
                </a:solidFill>
                <a:latin typeface="Microsoft YaHei"/>
              </a:rPr>
              <a:t>fused MoE 进出都是 </a:t>
            </a:r>
            <a:r>
              <a:rPr sz="900" b="1">
                <a:solidFill>
                  <a:srgbClr val="1E293B"/>
                </a:solidFill>
                <a:latin typeface="Microsoft YaHei"/>
              </a:rPr>
              <a:t>token 分片 [T/2, 2048]</a:t>
            </a:r>
            <a:r>
              <a:rPr sz="900" b="0">
                <a:solidFill>
                  <a:srgbClr val="1E293B"/>
                </a:solidFill>
                <a:latin typeface="Microsoft YaHei"/>
              </a:rPr>
              <a:t>；内部 EP all2all（32 experts/rank），</a:t>
            </a:r>
            <a:r>
              <a:rPr sz="900" b="1">
                <a:solidFill>
                  <a:srgbClr val="1E293B"/>
                </a:solidFill>
                <a:latin typeface="Microsoft YaHei"/>
              </a:rPr>
              <a:t>不做</a:t>
            </a:r>
            <a:r>
              <a:rPr sz="900" b="0">
                <a:solidFill>
                  <a:srgbClr val="1E293B"/>
                </a:solidFill>
                <a:latin typeface="Microsoft YaHei"/>
              </a:rPr>
              <a:t>最终 TP all_reduce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1E293B"/>
                </a:solidFill>
                <a:latin typeface="Microsoft YaHei"/>
              </a:rPr>
              <a:t>生效 pass：</a:t>
            </a:r>
            <a:r>
              <a:rPr sz="900" b="1">
                <a:solidFill>
                  <a:srgbClr val="1E293B"/>
                </a:solidFill>
                <a:latin typeface="Microsoft YaHei"/>
              </a:rPr>
              <a:t>SP pass ×48 + MoE pass ×96</a:t>
            </a:r>
            <a:r>
              <a:rPr sz="900" b="0">
                <a:solidFill>
                  <a:srgbClr val="1E293B"/>
                </a:solidFill>
                <a:latin typeface="Microsoft YaHei"/>
              </a:rPr>
              <a:t>（每 48 层 × 2）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143000"/>
            <a:ext cx="64008" cy="117043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441448"/>
            <a:ext cx="2880360" cy="1170432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" bIns="9144" rtlCol="0" anchor="ctr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DP=1, TP=2, enable_ep 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441448"/>
            <a:ext cx="3154680" cy="1170432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94A3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" bIns="9144" rtlCol="0" anchor="ctr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75569"/>
                </a:solidFill>
                <a:latin typeface="Microsoft YaHei"/>
              </a:rPr>
              <a:t>EP size = 1 × 2 = </a:t>
            </a:r>
            <a:r>
              <a:rPr sz="900" b="1">
                <a:solidFill>
                  <a:srgbClr val="475569"/>
                </a:solidFill>
                <a:latin typeface="Microsoft YaHei"/>
              </a:rPr>
              <a:t>2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475569"/>
                </a:solidFill>
                <a:latin typeface="Microsoft YaHei"/>
              </a:rPr>
              <a:t>DP=1 ⇒ 不满足 SP MoE 条件，MoE 非 SP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441448"/>
            <a:ext cx="4892040" cy="11704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" rIns="128016" bIns="9144" rtlCol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E293B"/>
                </a:solidFill>
                <a:latin typeface="Microsoft YaHei"/>
              </a:rPr>
              <a:t>② TP 模式（EP on）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1E293B"/>
                </a:solidFill>
                <a:latin typeface="Microsoft YaHei"/>
              </a:rPr>
              <a:t>fused MoE 进出都是</a:t>
            </a:r>
            <a:r>
              <a:rPr sz="900" b="1">
                <a:solidFill>
                  <a:srgbClr val="1E293B"/>
                </a:solidFill>
                <a:latin typeface="Microsoft YaHei"/>
              </a:rPr>
              <a:t>完整 tensor [T, 2048]</a:t>
            </a:r>
            <a:r>
              <a:rPr sz="900" b="0">
                <a:solidFill>
                  <a:srgbClr val="1E293B"/>
                </a:solidFill>
                <a:latin typeface="Microsoft YaHei"/>
              </a:rPr>
              <a:t>；内部 EP all2all（64 experts/rank）+ 最终 TP all_reduce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1E293B"/>
                </a:solidFill>
                <a:latin typeface="Microsoft YaHei"/>
              </a:rPr>
              <a:t>生效 pass：</a:t>
            </a:r>
            <a:r>
              <a:rPr sz="900" b="1">
                <a:solidFill>
                  <a:srgbClr val="1E293B"/>
                </a:solidFill>
                <a:latin typeface="Microsoft YaHei"/>
              </a:rPr>
              <a:t>SP pass ×96</a:t>
            </a:r>
            <a:r>
              <a:rPr sz="900" b="0">
                <a:solidFill>
                  <a:srgbClr val="1E293B"/>
                </a:solidFill>
                <a:latin typeface="Microsoft YaHei"/>
              </a:rPr>
              <a:t>（每层 2 处：o_proj 后、MoE 后）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441448"/>
            <a:ext cx="64008" cy="1170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57200" y="3739896"/>
            <a:ext cx="2880360" cy="1170432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" bIns="9144" rtlCol="0" anchor="ctr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TP=2, enable_ep 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3739896"/>
            <a:ext cx="3154680" cy="1170432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94A3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" bIns="9144" rtlCol="0" anchor="ctr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75569"/>
                </a:solidFill>
                <a:latin typeface="Microsoft YaHei"/>
              </a:rPr>
              <a:t>无 EP group；expert 权重按 TP 切分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475569"/>
                </a:solidFill>
                <a:latin typeface="Microsoft YaHei"/>
              </a:rPr>
              <a:t>（intermediate 768 → 384/rank）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3739896"/>
            <a:ext cx="4892040" cy="11704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" rIns="128016" bIns="9144" rtlCol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E293B"/>
                </a:solidFill>
                <a:latin typeface="Microsoft YaHei"/>
              </a:rPr>
              <a:t>③ TP 模式（EP off）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1E293B"/>
                </a:solidFill>
                <a:latin typeface="Microsoft YaHei"/>
              </a:rPr>
              <a:t>fused MoE 进出都是</a:t>
            </a:r>
            <a:r>
              <a:rPr sz="900" b="1">
                <a:solidFill>
                  <a:srgbClr val="1E293B"/>
                </a:solidFill>
                <a:latin typeface="Microsoft YaHei"/>
              </a:rPr>
              <a:t>完整 tensor [T, 2048]</a:t>
            </a:r>
            <a:r>
              <a:rPr sz="900" b="0">
                <a:solidFill>
                  <a:srgbClr val="1E293B"/>
                </a:solidFill>
                <a:latin typeface="Microsoft YaHei"/>
              </a:rPr>
              <a:t>；内部</a:t>
            </a:r>
            <a:r>
              <a:rPr sz="900" b="1">
                <a:solidFill>
                  <a:srgbClr val="1E293B"/>
                </a:solidFill>
                <a:latin typeface="Microsoft YaHei"/>
              </a:rPr>
              <a:t>无 all2all</a:t>
            </a:r>
            <a:r>
              <a:rPr sz="900" b="0">
                <a:solidFill>
                  <a:srgbClr val="1E293B"/>
                </a:solidFill>
                <a:latin typeface="Microsoft YaHei"/>
              </a:rPr>
              <a:t>，外部 all_gather / reduce_scatter 充当 dispatch / combine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1E293B"/>
                </a:solidFill>
                <a:latin typeface="Microsoft YaHei"/>
              </a:rPr>
              <a:t>生效 pass：</a:t>
            </a:r>
            <a:r>
              <a:rPr sz="900" b="1">
                <a:solidFill>
                  <a:srgbClr val="1E293B"/>
                </a:solidFill>
                <a:latin typeface="Microsoft YaHei"/>
              </a:rPr>
              <a:t>SP pass ×96</a:t>
            </a:r>
            <a:r>
              <a:rPr sz="900" b="0">
                <a:solidFill>
                  <a:srgbClr val="1E293B"/>
                </a:solidFill>
                <a:latin typeface="Microsoft YaHei"/>
              </a:rPr>
              <a:t>（同 ②）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739896"/>
            <a:ext cx="64008" cy="117043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57200" y="539496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" rIns="137160" bIns="9144" rtlCol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4155"/>
                </a:solidFill>
                <a:latin typeface="Microsoft YaHei"/>
              </a:rPr>
              <a:t>SP pass  </a:t>
            </a:r>
            <a:r>
              <a:rPr sz="1000" b="0">
                <a:solidFill>
                  <a:srgbClr val="3730A3"/>
                </a:solidFill>
                <a:latin typeface="Consolas"/>
              </a:rPr>
              <a:t>all_reduce + AddRMSNorm → reduce_scatter + AddRMSNorm + all_gather</a:t>
            </a:r>
            <a:r>
              <a:rPr sz="1000" b="0">
                <a:solidFill>
                  <a:srgbClr val="1E293B"/>
                </a:solidFill>
                <a:latin typeface="Microsoft YaHei"/>
              </a:rPr>
              <a:t>（norm 挪到分片上算）</a:t>
            </a:r>
          </a:p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4155"/>
                </a:solidFill>
                <a:latin typeface="Microsoft YaHei"/>
              </a:rPr>
              <a:t>MoE pass  </a:t>
            </a:r>
            <a:r>
              <a:rPr sz="1000" b="0">
                <a:solidFill>
                  <a:srgbClr val="3730A3"/>
                </a:solidFill>
                <a:latin typeface="Consolas"/>
              </a:rPr>
              <a:t>① all_gather + sp_chunk → identity；② all_gather + slice + norm → norm + all_gather</a:t>
            </a:r>
          </a:p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93B"/>
                </a:solidFill>
                <a:latin typeface="Microsoft YaHei"/>
              </a:rPr>
              <a:t>生效条件：</a:t>
            </a:r>
            <a:r>
              <a:rPr sz="1000" b="0">
                <a:solidFill>
                  <a:srgbClr val="3730A3"/>
                </a:solidFill>
                <a:latin typeface="Consolas"/>
              </a:rPr>
              <a:t>compile_range.start ≥ sp_min_token_num</a:t>
            </a:r>
            <a:r>
              <a:rPr sz="1000" b="0">
                <a:solidFill>
                  <a:srgbClr val="1E293B"/>
                </a:solidFill>
                <a:latin typeface="Microsoft YaHei"/>
              </a:rPr>
              <a:t>（MoE 模型默认 1）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01168"/>
            <a:ext cx="11247120" cy="411480"/>
          </a:xfrm>
          <a:prstGeom prst="rect">
            <a:avLst/>
          </a:prstGeom>
          <a:noFill/>
        </p:spPr>
        <p:txBody>
          <a:bodyPr wrap="square" lIns="0" tIns="9144" rIns="0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93B"/>
                </a:solidFill>
                <a:latin typeface="Microsoft YaHei"/>
              </a:rPr>
              <a:t>① SP + EP MoE 模式（DP=2, TP=2, EP=4）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"/>
            <a:ext cx="11247120" cy="292608"/>
          </a:xfrm>
          <a:prstGeom prst="rect">
            <a:avLst/>
          </a:prstGeom>
          <a:noFill/>
        </p:spPr>
        <p:txBody>
          <a:bodyPr wrap="square" lIns="0" tIns="9144" rIns="0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Microsoft YaHei"/>
              </a:rPr>
              <a:t>Before 为 pass 前原始 FX 图；After = SP pass ×48 + MoE pass ×96 之后。fused MoE 分片进、分片出。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87552"/>
            <a:ext cx="5532120" cy="292608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93B"/>
                </a:solidFill>
                <a:latin typeface="Microsoft YaHei"/>
              </a:rPr>
              <a:t>Before（原始图）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987552"/>
            <a:ext cx="5532120" cy="292608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93B"/>
                </a:solidFill>
                <a:latin typeface="Microsoft YaHei"/>
              </a:rPr>
              <a:t>After（SP ×48 + MoE ×96）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5532120" cy="34082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334155"/>
                </a:solidFill>
                <a:latin typeface="Consolas"/>
              </a:rPr>
              <a:t>上一层 MoE 输出（token 分片）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334155"/>
                </a:solidFill>
                <a:latin typeface="Consolas"/>
              </a:rPr>
              <a:t>[T/2, 2048]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66701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44425"/>
            <a:ext cx="5532120" cy="340821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 dirty="0" err="1">
                <a:solidFill>
                  <a:srgbClr val="FFFFFF"/>
                </a:solidFill>
                <a:latin typeface="Consolas"/>
              </a:rPr>
              <a:t>all_gather</a:t>
            </a:r>
            <a:r>
              <a:rPr sz="950" b="1" dirty="0">
                <a:solidFill>
                  <a:srgbClr val="FFFFFF"/>
                </a:solidFill>
                <a:latin typeface="Consolas"/>
              </a:rPr>
              <a:t> (TP)</a:t>
            </a:r>
          </a:p>
          <a:p>
            <a:pPr algn="ctr">
              <a:lnSpc>
                <a:spcPct val="100000"/>
              </a:lnSpc>
            </a:pPr>
            <a:r>
              <a:rPr sz="700" b="0" dirty="0">
                <a:solidFill>
                  <a:srgbClr val="FFFFFF"/>
                </a:solidFill>
                <a:latin typeface="Consolas"/>
              </a:rPr>
              <a:t>[T/2, 2048] → [T, 2048]</a:t>
            </a:r>
            <a:r>
              <a:rPr sz="700" b="0" dirty="0">
                <a:solidFill>
                  <a:srgbClr val="FFFFFF"/>
                </a:solidFill>
                <a:latin typeface="Microsoft YaHei"/>
              </a:rPr>
              <a:t>  ·  </a:t>
            </a:r>
            <a:r>
              <a:rPr sz="700" b="0" dirty="0" err="1">
                <a:solidFill>
                  <a:srgbClr val="FFFFFF"/>
                </a:solidFill>
                <a:latin typeface="Microsoft YaHei"/>
              </a:rPr>
              <a:t>MoE</a:t>
            </a:r>
            <a:r>
              <a:rPr sz="700" b="0" dirty="0">
                <a:solidFill>
                  <a:srgbClr val="FFFFFF"/>
                </a:solidFill>
                <a:latin typeface="Microsoft YaHei"/>
              </a:rPr>
              <a:t> </a:t>
            </a:r>
            <a:r>
              <a:rPr sz="700" b="0" dirty="0" err="1">
                <a:solidFill>
                  <a:srgbClr val="FFFFFF"/>
                </a:solidFill>
                <a:latin typeface="Microsoft YaHei"/>
              </a:rPr>
              <a:t>输出被</a:t>
            </a:r>
            <a:r>
              <a:rPr sz="700" b="0" dirty="0">
                <a:solidFill>
                  <a:srgbClr val="FFFFFF"/>
                </a:solidFill>
                <a:latin typeface="Microsoft YaHei"/>
              </a:rPr>
              <a:t> gather </a:t>
            </a:r>
            <a:r>
              <a:rPr sz="700" b="0" dirty="0" err="1">
                <a:solidFill>
                  <a:srgbClr val="FFFFFF"/>
                </a:solidFill>
                <a:latin typeface="Microsoft YaHei"/>
              </a:rPr>
              <a:t>成完整</a:t>
            </a:r>
            <a:r>
              <a:rPr sz="700" b="0" dirty="0">
                <a:solidFill>
                  <a:srgbClr val="FFFFFF"/>
                </a:solidFill>
                <a:latin typeface="Microsoft YaHei"/>
              </a:rPr>
              <a:t> tensor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85246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62970"/>
            <a:ext cx="5532120" cy="340821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 dirty="0" err="1">
                <a:solidFill>
                  <a:srgbClr val="FFFFFF"/>
                </a:solidFill>
                <a:latin typeface="Consolas"/>
              </a:rPr>
              <a:t>maybe_chunk_residual</a:t>
            </a:r>
            <a:r>
              <a:rPr sz="950" b="1" dirty="0">
                <a:solidFill>
                  <a:srgbClr val="FFFFFF"/>
                </a:solidFill>
                <a:latin typeface="Consolas"/>
              </a:rPr>
              <a:t> + </a:t>
            </a:r>
            <a:r>
              <a:rPr sz="950" b="1" dirty="0" err="1">
                <a:solidFill>
                  <a:srgbClr val="FFFFFF"/>
                </a:solidFill>
                <a:latin typeface="Consolas"/>
              </a:rPr>
              <a:t>npu_add_rms_norm_bias</a:t>
            </a:r>
            <a:endParaRPr sz="950" b="1" dirty="0">
              <a:solidFill>
                <a:srgbClr val="FFFFFF"/>
              </a:solidFill>
              <a:latin typeface="Consolas"/>
            </a:endParaRPr>
          </a:p>
          <a:p>
            <a:pPr algn="ctr">
              <a:lnSpc>
                <a:spcPct val="100000"/>
              </a:lnSpc>
            </a:pPr>
            <a:r>
              <a:rPr sz="700" b="0" dirty="0">
                <a:solidFill>
                  <a:srgbClr val="FFFFFF"/>
                </a:solidFill>
                <a:latin typeface="Consolas"/>
              </a:rPr>
              <a:t>[T, 2048]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03791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581515"/>
            <a:ext cx="5532120" cy="340821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unquantized_gemm (qkv_proj)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[T, 2048] × [2048, 2560] → [T, 2560]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2336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00060"/>
            <a:ext cx="5532120" cy="340821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qkv_rmsnorm_rope + unified_attention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q [T, 16, 128] / kv [T, 2, 128] → [T, 2048]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40881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18605"/>
            <a:ext cx="5532120" cy="340821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unquantized_gemm (o_proj)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[T, 2048] × [2048, 2048] → [T, 2048]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59426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37150"/>
            <a:ext cx="5532120" cy="340821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all_reduce (TP)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[T, 2048]</a:t>
            </a:r>
            <a:r>
              <a:rPr sz="700" b="0">
                <a:solidFill>
                  <a:srgbClr val="FFFFFF"/>
                </a:solidFill>
                <a:latin typeface="Microsoft YaHei"/>
              </a:rPr>
              <a:t>  ·  o_proj 行并行求和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7971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255695"/>
            <a:ext cx="5532120" cy="340821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 dirty="0" err="1">
                <a:solidFill>
                  <a:srgbClr val="FFFFFF"/>
                </a:solidFill>
                <a:latin typeface="Consolas"/>
              </a:rPr>
              <a:t>maybe_chunk_residual</a:t>
            </a:r>
            <a:r>
              <a:rPr sz="950" b="1" dirty="0">
                <a:solidFill>
                  <a:srgbClr val="FFFFFF"/>
                </a:solidFill>
                <a:latin typeface="Consolas"/>
              </a:rPr>
              <a:t> + </a:t>
            </a:r>
            <a:r>
              <a:rPr sz="950" b="1" dirty="0" err="1">
                <a:solidFill>
                  <a:srgbClr val="FFFFFF"/>
                </a:solidFill>
                <a:latin typeface="Consolas"/>
              </a:rPr>
              <a:t>npu_add_rms_norm_bias</a:t>
            </a:r>
            <a:endParaRPr sz="950" b="1" dirty="0">
              <a:solidFill>
                <a:srgbClr val="FFFFFF"/>
              </a:solidFill>
              <a:latin typeface="Consolas"/>
            </a:endParaRPr>
          </a:p>
          <a:p>
            <a:pPr algn="ctr">
              <a:lnSpc>
                <a:spcPct val="100000"/>
              </a:lnSpc>
            </a:pPr>
            <a:r>
              <a:rPr sz="700" b="0" dirty="0">
                <a:solidFill>
                  <a:srgbClr val="FFFFFF"/>
                </a:solidFill>
                <a:latin typeface="Consolas"/>
              </a:rPr>
              <a:t>[T, 2048]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96516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74240"/>
            <a:ext cx="5532120" cy="340821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 dirty="0" err="1">
                <a:solidFill>
                  <a:srgbClr val="FFFFFF"/>
                </a:solidFill>
                <a:latin typeface="Consolas"/>
              </a:rPr>
              <a:t>sequence_parallel_chunk</a:t>
            </a:r>
            <a:endParaRPr sz="950" b="1" dirty="0">
              <a:solidFill>
                <a:srgbClr val="FFFFFF"/>
              </a:solidFill>
              <a:latin typeface="Consolas"/>
            </a:endParaRPr>
          </a:p>
          <a:p>
            <a:pPr algn="ctr">
              <a:lnSpc>
                <a:spcPct val="100000"/>
              </a:lnSpc>
            </a:pPr>
            <a:r>
              <a:rPr sz="700" b="0" dirty="0">
                <a:solidFill>
                  <a:srgbClr val="FFFFFF"/>
                </a:solidFill>
                <a:latin typeface="Consolas"/>
              </a:rPr>
              <a:t>[T, 2048] → [T/2, 2048]</a:t>
            </a:r>
            <a:r>
              <a:rPr sz="700" b="0" dirty="0">
                <a:solidFill>
                  <a:srgbClr val="FFFFFF"/>
                </a:solidFill>
                <a:latin typeface="Microsoft YaHei"/>
              </a:rPr>
              <a:t>  ·  </a:t>
            </a:r>
            <a:r>
              <a:rPr sz="700" b="0" dirty="0" err="1">
                <a:solidFill>
                  <a:srgbClr val="FFFFFF"/>
                </a:solidFill>
                <a:latin typeface="Microsoft YaHei"/>
              </a:rPr>
              <a:t>切回本</a:t>
            </a:r>
            <a:r>
              <a:rPr sz="700" b="0" dirty="0">
                <a:solidFill>
                  <a:srgbClr val="FFFFFF"/>
                </a:solidFill>
                <a:latin typeface="Microsoft YaHei"/>
              </a:rPr>
              <a:t> rank </a:t>
            </a:r>
            <a:r>
              <a:rPr sz="700" b="0" dirty="0" err="1">
                <a:solidFill>
                  <a:srgbClr val="FFFFFF"/>
                </a:solidFill>
                <a:latin typeface="Microsoft YaHei"/>
              </a:rPr>
              <a:t>分片喂给</a:t>
            </a:r>
            <a:r>
              <a:rPr sz="700" b="0" dirty="0">
                <a:solidFill>
                  <a:srgbClr val="FFFFFF"/>
                </a:solidFill>
                <a:latin typeface="Microsoft YaHei"/>
              </a:rPr>
              <a:t> </a:t>
            </a:r>
            <a:r>
              <a:rPr sz="700" b="0" dirty="0" err="1">
                <a:solidFill>
                  <a:srgbClr val="FFFFFF"/>
                </a:solidFill>
                <a:latin typeface="Microsoft YaHei"/>
              </a:rPr>
              <a:t>MoE</a:t>
            </a:r>
            <a:endParaRPr sz="700" b="0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57200" y="5015061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092785"/>
            <a:ext cx="5532120" cy="340821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unquantized_gemm (gate / router)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[T/2, 2048] × [2048, 128] → [T/2, 128]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433606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511330"/>
            <a:ext cx="5532120" cy="340821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 dirty="0" err="1">
                <a:solidFill>
                  <a:srgbClr val="FFFFFF"/>
                </a:solidFill>
                <a:latin typeface="Consolas"/>
              </a:rPr>
              <a:t>moe_forward</a:t>
            </a:r>
            <a:endParaRPr sz="950" b="1" dirty="0">
              <a:solidFill>
                <a:srgbClr val="FFFFFF"/>
              </a:solidFill>
              <a:latin typeface="Consolas"/>
            </a:endParaRPr>
          </a:p>
          <a:p>
            <a:pPr algn="ctr">
              <a:lnSpc>
                <a:spcPct val="100000"/>
              </a:lnSpc>
            </a:pPr>
            <a:r>
              <a:rPr sz="700" b="0" dirty="0">
                <a:solidFill>
                  <a:srgbClr val="FFFFFF"/>
                </a:solidFill>
                <a:latin typeface="Consolas"/>
              </a:rPr>
              <a:t>in [T/2, 2048] → out [T/2, 2048]</a:t>
            </a:r>
            <a:r>
              <a:rPr sz="700" b="0" dirty="0">
                <a:solidFill>
                  <a:srgbClr val="FFFFFF"/>
                </a:solidFill>
                <a:latin typeface="Microsoft YaHei"/>
              </a:rPr>
              <a:t>  ·  </a:t>
            </a:r>
            <a:r>
              <a:rPr sz="700" b="0" dirty="0" err="1">
                <a:solidFill>
                  <a:srgbClr val="FFFFFF"/>
                </a:solidFill>
                <a:latin typeface="Microsoft YaHei"/>
              </a:rPr>
              <a:t>内部</a:t>
            </a:r>
            <a:r>
              <a:rPr sz="700" b="0" dirty="0">
                <a:solidFill>
                  <a:srgbClr val="FFFFFF"/>
                </a:solidFill>
                <a:latin typeface="Microsoft YaHei"/>
              </a:rPr>
              <a:t> EP all2all（32 experts/rank），无 TP </a:t>
            </a:r>
            <a:r>
              <a:rPr sz="700" b="0" dirty="0" err="1">
                <a:solidFill>
                  <a:srgbClr val="FFFFFF"/>
                </a:solidFill>
                <a:latin typeface="Microsoft YaHei"/>
              </a:rPr>
              <a:t>all_reduce</a:t>
            </a:r>
            <a:endParaRPr sz="700" b="0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217920" y="1325880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334155"/>
                </a:solidFill>
                <a:latin typeface="Consolas"/>
              </a:rPr>
              <a:t>上一层 MoE 输出（token 分片）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334155"/>
                </a:solidFill>
                <a:latin typeface="Consolas"/>
              </a:rPr>
              <a:t>[T/2, 2048]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1631823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1709547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 strike="sngStrike">
                <a:solidFill>
                  <a:srgbClr val="94A3B8"/>
                </a:solidFill>
                <a:latin typeface="Consolas"/>
              </a:rPr>
              <a:t>all_gather + slice（MoE 输出后）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94A3B8"/>
                </a:solidFill>
                <a:latin typeface="Microsoft YaHei"/>
              </a:rPr>
              <a:t>pattern ②：gather 挪到 norm 之后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2015490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093214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maybe_chunk_residual + npu_add_rms_norm_bias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[T/2, 2048]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399157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2476881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all_gather (TP)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[T/2, 2048] → [T, 2048]</a:t>
            </a:r>
            <a:r>
              <a:rPr sz="700" b="0">
                <a:solidFill>
                  <a:srgbClr val="FFFFFF"/>
                </a:solidFill>
                <a:latin typeface="Microsoft YaHei"/>
              </a:rPr>
              <a:t>  ·  pattern ② 挪到此处，供 attention 完整序列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2782824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2860548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unquantized_gemm (qkv_proj)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[T, 2048] × [2048, 2560] → [T, 2560]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3166491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3244215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qkv_rmsnorm_rope + unified_attention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q [T, 16, 128] / kv [T, 2, 128] → [T, 2048]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3550158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627882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unquantized_gemm (o_proj)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[T, 2048] × [2048, 2048] → [T, 2048]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3933825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4011549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reduce_scatter (TP)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[T, 2048] → [T/2, 2048]</a:t>
            </a:r>
            <a:r>
              <a:rPr sz="700" b="0">
                <a:solidFill>
                  <a:srgbClr val="FFFFFF"/>
                </a:solidFill>
                <a:latin typeface="Microsoft YaHei"/>
              </a:rPr>
              <a:t>  ·  SP pass：o_proj 后 all_reduce 已拆分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4317492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4395216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maybe_chunk_residual + npu_add_rms_norm_bias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[T/2, 2048]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4701159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17920" y="4778883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 strike="sngStrike" dirty="0" err="1">
                <a:solidFill>
                  <a:srgbClr val="94A3B8"/>
                </a:solidFill>
                <a:latin typeface="Consolas"/>
              </a:rPr>
              <a:t>all_gather</a:t>
            </a:r>
            <a:r>
              <a:rPr sz="950" b="1" strike="sngStrike" dirty="0">
                <a:solidFill>
                  <a:srgbClr val="94A3B8"/>
                </a:solidFill>
                <a:latin typeface="Consolas"/>
              </a:rPr>
              <a:t> + </a:t>
            </a:r>
            <a:r>
              <a:rPr sz="950" b="1" strike="sngStrike" dirty="0" err="1">
                <a:solidFill>
                  <a:srgbClr val="94A3B8"/>
                </a:solidFill>
                <a:latin typeface="Consolas"/>
              </a:rPr>
              <a:t>sequence_parallel_chunk</a:t>
            </a:r>
            <a:endParaRPr sz="950" b="1" strike="sngStrike" dirty="0">
              <a:solidFill>
                <a:srgbClr val="94A3B8"/>
              </a:solidFill>
              <a:latin typeface="Consolas"/>
            </a:endParaRPr>
          </a:p>
          <a:p>
            <a:pPr algn="ctr">
              <a:lnSpc>
                <a:spcPct val="100000"/>
              </a:lnSpc>
            </a:pPr>
            <a:r>
              <a:rPr sz="700" b="0" dirty="0">
                <a:solidFill>
                  <a:srgbClr val="94A3B8"/>
                </a:solidFill>
                <a:latin typeface="Microsoft YaHei"/>
              </a:rPr>
              <a:t>SP pass </a:t>
            </a:r>
            <a:r>
              <a:rPr sz="700" b="0" dirty="0" err="1">
                <a:solidFill>
                  <a:srgbClr val="94A3B8"/>
                </a:solidFill>
                <a:latin typeface="Microsoft YaHei"/>
              </a:rPr>
              <a:t>制造的恒等往返，被</a:t>
            </a:r>
            <a:r>
              <a:rPr sz="700" b="0" dirty="0">
                <a:solidFill>
                  <a:srgbClr val="94A3B8"/>
                </a:solidFill>
                <a:latin typeface="Microsoft YaHei"/>
              </a:rPr>
              <a:t> pattern ① </a:t>
            </a:r>
            <a:r>
              <a:rPr sz="700" b="0" dirty="0" err="1">
                <a:solidFill>
                  <a:srgbClr val="94A3B8"/>
                </a:solidFill>
                <a:latin typeface="Microsoft YaHei"/>
              </a:rPr>
              <a:t>折叠</a:t>
            </a:r>
            <a:endParaRPr sz="700" b="0" dirty="0">
              <a:solidFill>
                <a:srgbClr val="94A3B8"/>
              </a:solidFill>
              <a:latin typeface="Microsoft YaHei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217920" y="5084826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5162550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unquantized_gemm (gate / router)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[T/2, 2048] × [2048, 128] → [T/2, 128]</a:t>
            </a:r>
            <a:r>
              <a:rPr sz="700" b="0">
                <a:solidFill>
                  <a:srgbClr val="FFFFFF"/>
                </a:solidFill>
                <a:latin typeface="Microsoft YaHei"/>
              </a:rPr>
              <a:t>  ·  直接在分片上算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5468493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17920" y="5546217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 dirty="0" err="1">
                <a:solidFill>
                  <a:srgbClr val="FFFFFF"/>
                </a:solidFill>
                <a:latin typeface="Consolas"/>
              </a:rPr>
              <a:t>moe_forward</a:t>
            </a:r>
            <a:endParaRPr sz="950" b="1" dirty="0">
              <a:solidFill>
                <a:srgbClr val="FFFFFF"/>
              </a:solidFill>
              <a:latin typeface="Consolas"/>
            </a:endParaRPr>
          </a:p>
          <a:p>
            <a:pPr algn="ctr">
              <a:lnSpc>
                <a:spcPct val="100000"/>
              </a:lnSpc>
            </a:pPr>
            <a:r>
              <a:rPr sz="700" b="0" dirty="0">
                <a:solidFill>
                  <a:srgbClr val="FFFFFF"/>
                </a:solidFill>
                <a:latin typeface="Consolas"/>
              </a:rPr>
              <a:t>in [T/2, 2048] → out [T/2, 2048]</a:t>
            </a:r>
            <a:r>
              <a:rPr sz="700" b="0" dirty="0">
                <a:solidFill>
                  <a:srgbClr val="FFFFFF"/>
                </a:solidFill>
                <a:latin typeface="Microsoft YaHei"/>
              </a:rPr>
              <a:t>  ·  </a:t>
            </a:r>
            <a:r>
              <a:rPr sz="700" b="0" dirty="0" err="1">
                <a:solidFill>
                  <a:srgbClr val="FFFFFF"/>
                </a:solidFill>
                <a:latin typeface="Microsoft YaHei"/>
              </a:rPr>
              <a:t>输出直接交给下一层</a:t>
            </a:r>
            <a:r>
              <a:rPr sz="700" b="0" dirty="0">
                <a:solidFill>
                  <a:srgbClr val="FFFFFF"/>
                </a:solidFill>
                <a:latin typeface="Microsoft YaHei"/>
              </a:rPr>
              <a:t> </a:t>
            </a:r>
            <a:r>
              <a:rPr sz="700" b="0" dirty="0" err="1">
                <a:solidFill>
                  <a:srgbClr val="FFFFFF"/>
                </a:solidFill>
                <a:latin typeface="Microsoft YaHei"/>
              </a:rPr>
              <a:t>norm（保持分片</a:t>
            </a:r>
            <a:r>
              <a:rPr sz="700" b="0" dirty="0">
                <a:solidFill>
                  <a:srgbClr val="FFFFFF"/>
                </a:solidFill>
                <a:latin typeface="Microsoft YaHei"/>
              </a:rPr>
              <a:t>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5925312"/>
            <a:ext cx="1129284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" rIns="109728" bIns="9144" rtlCol="0" anchor="ctr"/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E293B"/>
                </a:solidFill>
                <a:latin typeface="Microsoft YaHei"/>
              </a:rPr>
              <a:t>• </a:t>
            </a:r>
            <a:r>
              <a:rPr sz="1050" b="0">
                <a:solidFill>
                  <a:srgbClr val="1E293B"/>
                </a:solidFill>
                <a:latin typeface="Microsoft YaHei"/>
              </a:rPr>
              <a:t>每层通信：</a:t>
            </a:r>
            <a:r>
              <a:rPr sz="1050" b="1">
                <a:solidFill>
                  <a:srgbClr val="1E293B"/>
                </a:solidFill>
                <a:latin typeface="Microsoft YaHei"/>
              </a:rPr>
              <a:t>1 all_reduce + 1 all_gather</a:t>
            </a:r>
            <a:r>
              <a:rPr sz="1050" b="0">
                <a:solidFill>
                  <a:srgbClr val="1E293B"/>
                </a:solidFill>
                <a:latin typeface="Microsoft YaHei"/>
              </a:rPr>
              <a:t> → </a:t>
            </a:r>
            <a:r>
              <a:rPr sz="1050" b="1">
                <a:solidFill>
                  <a:srgbClr val="1E293B"/>
                </a:solidFill>
                <a:latin typeface="Microsoft YaHei"/>
              </a:rPr>
              <a:t>1 reduce_scatter + 1 all_gather</a:t>
            </a:r>
            <a:r>
              <a:rPr sz="1050" b="0">
                <a:solidFill>
                  <a:srgbClr val="1E293B"/>
                </a:solidFill>
                <a:latin typeface="Microsoft YaHei"/>
              </a:rPr>
              <a:t>；两处 norm 从 [T, 2048] 降到 [T/2, 2048]，sequence_parallel_chunk 消失。</a:t>
            </a:r>
          </a:p>
          <a:p>
            <a:pPr algn="l">
              <a:lnSpc>
                <a:spcPct val="100000"/>
              </a:lnSpc>
            </a:pPr>
            <a:r>
              <a:rPr sz="950" b="1">
                <a:solidFill>
                  <a:srgbClr val="1E293B"/>
                </a:solidFill>
                <a:latin typeface="Microsoft YaHei"/>
              </a:rPr>
              <a:t>• </a:t>
            </a:r>
            <a:r>
              <a:rPr sz="1050" b="0">
                <a:solidFill>
                  <a:srgbClr val="1E293B"/>
                </a:solidFill>
                <a:latin typeface="Microsoft YaHei"/>
              </a:rPr>
              <a:t>中间过程：SP pass 先在 MoE 前制造出 all_gather + sp_chunk 恒等往返，MoE pass pattern ① 将其折叠；pattern ② 把 MoE 输出后的 all_gather 挪到下一层 norm 之后（gather 仍保留，因为 attention 需要完整序列）。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A7488EFC-2CFE-557F-2FB8-626A909C394C}"/>
              </a:ext>
            </a:extLst>
          </p:cNvPr>
          <p:cNvSpPr txBox="1"/>
          <p:nvPr/>
        </p:nvSpPr>
        <p:spPr>
          <a:xfrm>
            <a:off x="4538870" y="3933825"/>
            <a:ext cx="1568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Reduce scatter</a:t>
            </a:r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2AF075B0-7B38-DA21-A065-D9865C2E5AC6}"/>
              </a:ext>
            </a:extLst>
          </p:cNvPr>
          <p:cNvSpPr txBox="1"/>
          <p:nvPr/>
        </p:nvSpPr>
        <p:spPr>
          <a:xfrm>
            <a:off x="4711148" y="4490133"/>
            <a:ext cx="1008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allgather</a:t>
            </a:r>
            <a:endParaRPr lang="zh-CN" altLang="en-US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C746C47-4B47-4EB7-3676-8B216CEF41D5}"/>
              </a:ext>
            </a:extLst>
          </p:cNvPr>
          <p:cNvSpPr txBox="1"/>
          <p:nvPr/>
        </p:nvSpPr>
        <p:spPr>
          <a:xfrm>
            <a:off x="4931842" y="4199039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rms</a:t>
            </a:r>
            <a:endParaRPr lang="zh-CN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01168"/>
            <a:ext cx="11247120" cy="411480"/>
          </a:xfrm>
          <a:prstGeom prst="rect">
            <a:avLst/>
          </a:prstGeom>
          <a:noFill/>
        </p:spPr>
        <p:txBody>
          <a:bodyPr wrap="square" lIns="0" tIns="9144" rIns="0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dirty="0">
                <a:solidFill>
                  <a:srgbClr val="1E293B"/>
                </a:solidFill>
                <a:latin typeface="Microsoft YaHei"/>
              </a:rPr>
              <a:t>② TP </a:t>
            </a:r>
            <a:r>
              <a:rPr sz="2000" b="1" dirty="0" err="1">
                <a:solidFill>
                  <a:srgbClr val="1E293B"/>
                </a:solidFill>
                <a:latin typeface="Microsoft YaHei"/>
              </a:rPr>
              <a:t>模式（DP</a:t>
            </a:r>
            <a:r>
              <a:rPr sz="2000" b="1" dirty="0">
                <a:solidFill>
                  <a:srgbClr val="1E293B"/>
                </a:solidFill>
                <a:latin typeface="Microsoft YaHei"/>
              </a:rPr>
              <a:t>=1, TP=2, EP=2，MoE 非 SP）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"/>
            <a:ext cx="11247120" cy="292608"/>
          </a:xfrm>
          <a:prstGeom prst="rect">
            <a:avLst/>
          </a:prstGeom>
          <a:noFill/>
        </p:spPr>
        <p:txBody>
          <a:bodyPr wrap="square" lIns="0" tIns="9144" rIns="0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dirty="0" err="1">
                <a:solidFill>
                  <a:srgbClr val="64748B"/>
                </a:solidFill>
                <a:latin typeface="Microsoft YaHei"/>
              </a:rPr>
              <a:t>只有</a:t>
            </a:r>
            <a:r>
              <a:rPr sz="1000" b="0" dirty="0">
                <a:solidFill>
                  <a:srgbClr val="64748B"/>
                </a:solidFill>
                <a:latin typeface="Microsoft YaHei"/>
              </a:rPr>
              <a:t> SP pass </a:t>
            </a:r>
            <a:r>
              <a:rPr sz="1000" b="0" dirty="0" err="1">
                <a:solidFill>
                  <a:srgbClr val="64748B"/>
                </a:solidFill>
                <a:latin typeface="Microsoft YaHei"/>
              </a:rPr>
              <a:t>生效：每层替换</a:t>
            </a:r>
            <a:r>
              <a:rPr sz="1000" b="0" dirty="0">
                <a:solidFill>
                  <a:srgbClr val="64748B"/>
                </a:solidFill>
                <a:latin typeface="Microsoft YaHei"/>
              </a:rPr>
              <a:t> 2 </a:t>
            </a:r>
            <a:r>
              <a:rPr sz="1000" b="0" dirty="0" err="1">
                <a:solidFill>
                  <a:srgbClr val="64748B"/>
                </a:solidFill>
                <a:latin typeface="Microsoft YaHei"/>
              </a:rPr>
              <a:t>处（o_proj</a:t>
            </a:r>
            <a:r>
              <a:rPr sz="1000" b="0" dirty="0">
                <a:solidFill>
                  <a:srgbClr val="64748B"/>
                </a:solidFill>
                <a:latin typeface="Microsoft YaHei"/>
              </a:rPr>
              <a:t> </a:t>
            </a:r>
            <a:r>
              <a:rPr sz="1000" b="0" dirty="0" err="1">
                <a:solidFill>
                  <a:srgbClr val="64748B"/>
                </a:solidFill>
                <a:latin typeface="Microsoft YaHei"/>
              </a:rPr>
              <a:t>后、MoE</a:t>
            </a:r>
            <a:r>
              <a:rPr sz="1000" b="0" dirty="0">
                <a:solidFill>
                  <a:srgbClr val="64748B"/>
                </a:solidFill>
                <a:latin typeface="Microsoft YaHei"/>
              </a:rPr>
              <a:t> </a:t>
            </a:r>
            <a:r>
              <a:rPr sz="1000" b="0" dirty="0" err="1">
                <a:solidFill>
                  <a:srgbClr val="64748B"/>
                </a:solidFill>
                <a:latin typeface="Microsoft YaHei"/>
              </a:rPr>
              <a:t>输出后</a:t>
            </a:r>
            <a:r>
              <a:rPr sz="1000" b="0" dirty="0">
                <a:solidFill>
                  <a:srgbClr val="64748B"/>
                </a:solidFill>
                <a:latin typeface="Microsoft YaHei"/>
              </a:rPr>
              <a:t>），48 </a:t>
            </a:r>
            <a:r>
              <a:rPr sz="1000" b="0" dirty="0" err="1">
                <a:solidFill>
                  <a:srgbClr val="64748B"/>
                </a:solidFill>
                <a:latin typeface="Microsoft YaHei"/>
              </a:rPr>
              <a:t>层共</a:t>
            </a:r>
            <a:r>
              <a:rPr sz="1000" b="0" dirty="0">
                <a:solidFill>
                  <a:srgbClr val="64748B"/>
                </a:solidFill>
                <a:latin typeface="Microsoft YaHei"/>
              </a:rPr>
              <a:t> 96 </a:t>
            </a:r>
            <a:r>
              <a:rPr sz="1000" b="0" dirty="0" err="1">
                <a:solidFill>
                  <a:srgbClr val="64748B"/>
                </a:solidFill>
                <a:latin typeface="Microsoft YaHei"/>
              </a:rPr>
              <a:t>处。fused</a:t>
            </a:r>
            <a:r>
              <a:rPr sz="1000" b="0" dirty="0">
                <a:solidFill>
                  <a:srgbClr val="64748B"/>
                </a:solidFill>
                <a:latin typeface="Microsoft YaHei"/>
              </a:rPr>
              <a:t> </a:t>
            </a:r>
            <a:r>
              <a:rPr sz="1000" b="0" dirty="0" err="1">
                <a:solidFill>
                  <a:srgbClr val="64748B"/>
                </a:solidFill>
                <a:latin typeface="Microsoft YaHei"/>
              </a:rPr>
              <a:t>MoE</a:t>
            </a:r>
            <a:r>
              <a:rPr sz="1000" b="0" dirty="0">
                <a:solidFill>
                  <a:srgbClr val="64748B"/>
                </a:solidFill>
                <a:latin typeface="Microsoft YaHei"/>
              </a:rPr>
              <a:t> </a:t>
            </a:r>
            <a:r>
              <a:rPr sz="1000" b="0" dirty="0" err="1">
                <a:solidFill>
                  <a:srgbClr val="64748B"/>
                </a:solidFill>
                <a:latin typeface="Microsoft YaHei"/>
              </a:rPr>
              <a:t>完整</a:t>
            </a:r>
            <a:r>
              <a:rPr sz="1000" b="0" dirty="0">
                <a:solidFill>
                  <a:srgbClr val="64748B"/>
                </a:solidFill>
                <a:latin typeface="Microsoft YaHei"/>
              </a:rPr>
              <a:t> tensor </a:t>
            </a:r>
            <a:r>
              <a:rPr sz="1000" b="0" dirty="0" err="1">
                <a:solidFill>
                  <a:srgbClr val="64748B"/>
                </a:solidFill>
                <a:latin typeface="Microsoft YaHei"/>
              </a:rPr>
              <a:t>进、完整</a:t>
            </a:r>
            <a:r>
              <a:rPr sz="1000" b="0" dirty="0">
                <a:solidFill>
                  <a:srgbClr val="64748B"/>
                </a:solidFill>
                <a:latin typeface="Microsoft YaHei"/>
              </a:rPr>
              <a:t> tensor 出。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87552"/>
            <a:ext cx="5532120" cy="292608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93B"/>
                </a:solidFill>
                <a:latin typeface="Microsoft YaHei"/>
              </a:rPr>
              <a:t>Before（原始图）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987552"/>
            <a:ext cx="5532120" cy="292608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93B"/>
                </a:solidFill>
                <a:latin typeface="Microsoft YaHei"/>
              </a:rPr>
              <a:t>After（SP ×96）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5532120" cy="3826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 dirty="0" err="1">
                <a:solidFill>
                  <a:srgbClr val="334155"/>
                </a:solidFill>
                <a:latin typeface="Consolas"/>
              </a:rPr>
              <a:t>上一层</a:t>
            </a:r>
            <a:r>
              <a:rPr sz="950" b="1" dirty="0">
                <a:solidFill>
                  <a:srgbClr val="334155"/>
                </a:solidFill>
                <a:latin typeface="Consolas"/>
              </a:rPr>
              <a:t> </a:t>
            </a:r>
            <a:r>
              <a:rPr sz="950" b="1" dirty="0" err="1">
                <a:solidFill>
                  <a:srgbClr val="334155"/>
                </a:solidFill>
                <a:latin typeface="Consolas"/>
              </a:rPr>
              <a:t>MoE</a:t>
            </a:r>
            <a:r>
              <a:rPr sz="950" b="1" dirty="0">
                <a:solidFill>
                  <a:srgbClr val="334155"/>
                </a:solidFill>
                <a:latin typeface="Consolas"/>
              </a:rPr>
              <a:t> </a:t>
            </a:r>
            <a:r>
              <a:rPr sz="950" b="1" dirty="0" err="1">
                <a:solidFill>
                  <a:srgbClr val="334155"/>
                </a:solidFill>
                <a:latin typeface="Consolas"/>
              </a:rPr>
              <a:t>输出（完整</a:t>
            </a:r>
            <a:r>
              <a:rPr sz="950" b="1" dirty="0">
                <a:solidFill>
                  <a:srgbClr val="334155"/>
                </a:solidFill>
                <a:latin typeface="Consolas"/>
              </a:rPr>
              <a:t> tensor）</a:t>
            </a:r>
          </a:p>
          <a:p>
            <a:pPr algn="ctr">
              <a:lnSpc>
                <a:spcPct val="100000"/>
              </a:lnSpc>
            </a:pPr>
            <a:r>
              <a:rPr sz="700" b="0" dirty="0">
                <a:solidFill>
                  <a:srgbClr val="334155"/>
                </a:solidFill>
                <a:latin typeface="Consolas"/>
              </a:rPr>
              <a:t>[T, 2048]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08556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86280"/>
            <a:ext cx="5532120" cy="382676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 dirty="0" err="1">
                <a:solidFill>
                  <a:srgbClr val="FFFFFF"/>
                </a:solidFill>
                <a:latin typeface="Consolas"/>
              </a:rPr>
              <a:t>maybe_all_reduce_tensor_model_parallel</a:t>
            </a:r>
            <a:endParaRPr sz="950" b="1" dirty="0">
              <a:solidFill>
                <a:srgbClr val="FFFFFF"/>
              </a:solidFill>
              <a:latin typeface="Consolas"/>
            </a:endParaRPr>
          </a:p>
          <a:p>
            <a:pPr algn="ctr">
              <a:lnSpc>
                <a:spcPct val="100000"/>
              </a:lnSpc>
            </a:pPr>
            <a:r>
              <a:rPr sz="700" b="0" dirty="0">
                <a:solidFill>
                  <a:srgbClr val="FFFFFF"/>
                </a:solidFill>
                <a:latin typeface="Consolas"/>
              </a:rPr>
              <a:t>[T, 2048]</a:t>
            </a:r>
            <a:r>
              <a:rPr sz="700" b="0" dirty="0">
                <a:solidFill>
                  <a:srgbClr val="FFFFFF"/>
                </a:solidFill>
                <a:latin typeface="Microsoft YaHei"/>
              </a:rPr>
              <a:t>  ·  </a:t>
            </a:r>
            <a:r>
              <a:rPr sz="700" b="0" dirty="0" err="1">
                <a:solidFill>
                  <a:srgbClr val="FFFFFF"/>
                </a:solidFill>
                <a:latin typeface="Microsoft YaHei"/>
              </a:rPr>
              <a:t>MoE</a:t>
            </a:r>
            <a:r>
              <a:rPr sz="700" b="0" dirty="0">
                <a:solidFill>
                  <a:srgbClr val="FFFFFF"/>
                </a:solidFill>
                <a:latin typeface="Microsoft YaHei"/>
              </a:rPr>
              <a:t> </a:t>
            </a:r>
            <a:r>
              <a:rPr sz="700" b="0" dirty="0" err="1">
                <a:solidFill>
                  <a:srgbClr val="FFFFFF"/>
                </a:solidFill>
                <a:latin typeface="Microsoft YaHei"/>
              </a:rPr>
              <a:t>内部最终的</a:t>
            </a:r>
            <a:r>
              <a:rPr sz="700" b="0" dirty="0">
                <a:solidFill>
                  <a:srgbClr val="FFFFFF"/>
                </a:solidFill>
                <a:latin typeface="Microsoft YaHei"/>
              </a:rPr>
              <a:t> TP </a:t>
            </a:r>
            <a:r>
              <a:rPr sz="700" b="0" dirty="0" err="1">
                <a:solidFill>
                  <a:srgbClr val="FFFFFF"/>
                </a:solidFill>
                <a:latin typeface="Microsoft YaHei"/>
              </a:rPr>
              <a:t>all_reduce</a:t>
            </a:r>
            <a:endParaRPr sz="700" b="0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2168956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46680"/>
            <a:ext cx="5532120" cy="382676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maybe_chunk_residual + npu_add_rms_norm_bias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[T, 2048]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29356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07080"/>
            <a:ext cx="5532120" cy="382676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unquantized_gemm (qkv_proj)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[T, 2048] × [2048, 2560] → [T, 2560]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89756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167480"/>
            <a:ext cx="5532120" cy="382676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qkv_rmsnorm_rope + unified_attention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q [T, 16, 128] / kv [T, 2, 128] → [T, 2048]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550156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27880"/>
            <a:ext cx="5532120" cy="382676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unquantized_gemm (o_proj)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[T, 2048] × [2048, 2048] → [T, 2048]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10556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088280"/>
            <a:ext cx="5532120" cy="382676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all_reduce (TP)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[T, 2048]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70956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548680"/>
            <a:ext cx="5532120" cy="382676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maybe_chunk_residual + npu_add_rms_norm_bias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[T, 2048]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931356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009080"/>
            <a:ext cx="5532120" cy="382676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unquantized_gemm (gate / router)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[T, 2048] × [2048, 128] → [T, 128]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91756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469480"/>
            <a:ext cx="5532120" cy="382676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moe_forward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in [T, 2048] → out [T, 2048]</a:t>
            </a:r>
            <a:r>
              <a:rPr sz="700" b="0">
                <a:solidFill>
                  <a:srgbClr val="FFFFFF"/>
                </a:solidFill>
                <a:latin typeface="Microsoft YaHei"/>
              </a:rPr>
              <a:t>  ·  内部 EP all2all（64 experts/rank）+ 最终 TP all_reduce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325880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334155"/>
                </a:solidFill>
                <a:latin typeface="Consolas"/>
              </a:rPr>
              <a:t>上一层 MoE 输出（完整 tensor）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334155"/>
                </a:solidFill>
                <a:latin typeface="Consolas"/>
              </a:rPr>
              <a:t>[T, 2048]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1631823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1709547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 dirty="0" err="1">
                <a:solidFill>
                  <a:srgbClr val="FFFFFF"/>
                </a:solidFill>
                <a:latin typeface="Consolas"/>
              </a:rPr>
              <a:t>reduce_scatter</a:t>
            </a:r>
            <a:r>
              <a:rPr sz="950" b="1" dirty="0">
                <a:solidFill>
                  <a:srgbClr val="FFFFFF"/>
                </a:solidFill>
                <a:latin typeface="Consolas"/>
              </a:rPr>
              <a:t> (TP)</a:t>
            </a:r>
            <a:r>
              <a:rPr lang="en-US" sz="950" b="1" dirty="0">
                <a:solidFill>
                  <a:srgbClr val="FFFFFF"/>
                </a:solidFill>
                <a:latin typeface="Consolas"/>
              </a:rPr>
              <a:t>659</a:t>
            </a:r>
            <a:endParaRPr sz="950" b="1" dirty="0">
              <a:solidFill>
                <a:srgbClr val="FFFFFF"/>
              </a:solidFill>
              <a:latin typeface="Consolas"/>
            </a:endParaRPr>
          </a:p>
          <a:p>
            <a:pPr algn="ctr">
              <a:lnSpc>
                <a:spcPct val="100000"/>
              </a:lnSpc>
            </a:pPr>
            <a:r>
              <a:rPr sz="700" b="0" dirty="0">
                <a:solidFill>
                  <a:srgbClr val="FFFFFF"/>
                </a:solidFill>
                <a:latin typeface="Consolas"/>
              </a:rPr>
              <a:t>[T, 2048] → [T/2, 2048]</a:t>
            </a:r>
            <a:r>
              <a:rPr sz="700" b="0" dirty="0">
                <a:solidFill>
                  <a:srgbClr val="FFFFFF"/>
                </a:solidFill>
                <a:latin typeface="Microsoft YaHei"/>
              </a:rPr>
              <a:t>  ·  SP pass </a:t>
            </a:r>
            <a:r>
              <a:rPr sz="700" b="0" dirty="0" err="1">
                <a:solidFill>
                  <a:srgbClr val="FFFFFF"/>
                </a:solidFill>
                <a:latin typeface="Microsoft YaHei"/>
              </a:rPr>
              <a:t>替换点</a:t>
            </a:r>
            <a:r>
              <a:rPr sz="700" b="0" dirty="0">
                <a:solidFill>
                  <a:srgbClr val="FFFFFF"/>
                </a:solidFill>
                <a:latin typeface="Microsoft YaHei"/>
              </a:rPr>
              <a:t> ②：</a:t>
            </a:r>
            <a:r>
              <a:rPr sz="700" b="0" dirty="0" err="1">
                <a:solidFill>
                  <a:srgbClr val="FFFFFF"/>
                </a:solidFill>
                <a:latin typeface="Microsoft YaHei"/>
              </a:rPr>
              <a:t>MoE</a:t>
            </a:r>
            <a:r>
              <a:rPr sz="700" b="0" dirty="0">
                <a:solidFill>
                  <a:srgbClr val="FFFFFF"/>
                </a:solidFill>
                <a:latin typeface="Microsoft YaHei"/>
              </a:rPr>
              <a:t> </a:t>
            </a:r>
            <a:r>
              <a:rPr sz="700" b="0" dirty="0" err="1">
                <a:solidFill>
                  <a:srgbClr val="FFFFFF"/>
                </a:solidFill>
                <a:latin typeface="Microsoft YaHei"/>
              </a:rPr>
              <a:t>后的</a:t>
            </a:r>
            <a:r>
              <a:rPr sz="700" b="0" dirty="0">
                <a:solidFill>
                  <a:srgbClr val="FFFFFF"/>
                </a:solidFill>
                <a:latin typeface="Microsoft YaHei"/>
              </a:rPr>
              <a:t> </a:t>
            </a:r>
            <a:r>
              <a:rPr sz="700" b="0" dirty="0" err="1">
                <a:solidFill>
                  <a:srgbClr val="FFFFFF"/>
                </a:solidFill>
                <a:latin typeface="Microsoft YaHei"/>
              </a:rPr>
              <a:t>maybe_all_reduce</a:t>
            </a:r>
            <a:endParaRPr sz="700" b="0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217920" y="2015490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2093214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maybe_chunk_residual + npu_add_rms_norm_bias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[T/2, 2048]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2399157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476881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all_gather (TP)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[T/2, 2048] → [T, 2048]</a:t>
            </a:r>
            <a:r>
              <a:rPr sz="700" b="0">
                <a:solidFill>
                  <a:srgbClr val="FFFFFF"/>
                </a:solidFill>
                <a:latin typeface="Microsoft YaHei"/>
              </a:rPr>
              <a:t>  ·  attention 需要完整序列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782824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2860548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unquantized_gemm (qkv_proj)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[T, 2048] × [2048, 2560] → [T, 2560]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166491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244215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qkv_rmsnorm_rope + unified_attention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q [T, 16, 128] / kv [T, 2, 128] → [T, 2048]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3550158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3627882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unquantized_gemm (o_proj)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[T, 2048] × [2048, 2048] → [T, 2048]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3933825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4011549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reduce_scatter (TP)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[T, 2048] → [T/2, 2048]</a:t>
            </a:r>
            <a:r>
              <a:rPr sz="700" b="0">
                <a:solidFill>
                  <a:srgbClr val="FFFFFF"/>
                </a:solidFill>
                <a:latin typeface="Microsoft YaHei"/>
              </a:rPr>
              <a:t>  ·  SP pass 替换点 ①：o_proj 后的 all_reduce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4317492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4395216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maybe_chunk_residual + npu_add_rms_norm_bias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[T/2, 2048]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4701159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4778883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all_gather (TP)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[T/2, 2048] → [T, 2048]</a:t>
            </a:r>
            <a:r>
              <a:rPr sz="700" b="0">
                <a:solidFill>
                  <a:srgbClr val="FFFFFF"/>
                </a:solidFill>
                <a:latin typeface="Microsoft YaHei"/>
              </a:rPr>
              <a:t>  ·  MoE 要求完整 tensor 输入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5084826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17920" y="5162550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unquantized_gemm (gate / router)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[T, 2048] × [2048, 128] → [T, 128]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5468493"/>
            <a:ext cx="553212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5546217"/>
            <a:ext cx="5532120" cy="305943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moe_forward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in [T, 2048] → out [T, 2048]</a:t>
            </a:r>
            <a:r>
              <a:rPr sz="700" b="0">
                <a:solidFill>
                  <a:srgbClr val="FFFFFF"/>
                </a:solidFill>
                <a:latin typeface="Microsoft YaHei"/>
              </a:rPr>
              <a:t>  ·  输入输出均为完整 tensor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925312"/>
            <a:ext cx="1129284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" rIns="109728" bIns="9144" rtlCol="0" anchor="ctr"/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E293B"/>
                </a:solidFill>
                <a:latin typeface="Microsoft YaHei"/>
              </a:rPr>
              <a:t>• </a:t>
            </a:r>
            <a:r>
              <a:rPr sz="1050" b="0">
                <a:solidFill>
                  <a:srgbClr val="1E293B"/>
                </a:solidFill>
                <a:latin typeface="Microsoft YaHei"/>
              </a:rPr>
              <a:t>两处 all_reduce（o_proj 后、MoE 后的 maybe_all_reduce）都被拆成 reduce_scatter + all_gather，中间 norm 在 [T/2, 2048] 分片上算。</a:t>
            </a:r>
          </a:p>
          <a:p>
            <a:pPr algn="l">
              <a:lnSpc>
                <a:spcPct val="100000"/>
              </a:lnSpc>
            </a:pPr>
            <a:r>
              <a:rPr sz="950" b="1">
                <a:solidFill>
                  <a:srgbClr val="1E293B"/>
                </a:solidFill>
                <a:latin typeface="Microsoft YaHei"/>
              </a:rPr>
              <a:t>• </a:t>
            </a:r>
            <a:r>
              <a:rPr sz="1050" b="0">
                <a:solidFill>
                  <a:srgbClr val="1E293B"/>
                </a:solidFill>
                <a:latin typeface="Microsoft YaHei"/>
              </a:rPr>
              <a:t>MoE 入口前必须 all_gather 回 [T, 2048]：该模式 fused MoE 要求完整 tensor。通信量不减（all_reduce ≈ RS+AG），收益在 norm 计算减半与通信/计算重叠。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01168"/>
            <a:ext cx="11247120" cy="411480"/>
          </a:xfrm>
          <a:prstGeom prst="rect">
            <a:avLst/>
          </a:prstGeom>
          <a:noFill/>
        </p:spPr>
        <p:txBody>
          <a:bodyPr wrap="square" lIns="0" tIns="9144" rIns="0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93B"/>
                </a:solidFill>
                <a:latin typeface="Microsoft YaHei"/>
              </a:rPr>
              <a:t>③ TP 模式，EP off（TP=2）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"/>
            <a:ext cx="11247120" cy="292608"/>
          </a:xfrm>
          <a:prstGeom prst="rect">
            <a:avLst/>
          </a:prstGeom>
          <a:noFill/>
        </p:spPr>
        <p:txBody>
          <a:bodyPr wrap="square" lIns="0" tIns="9144" rIns="0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Microsoft YaHei"/>
              </a:rPr>
              <a:t>外部数据流与情况 ② After 完全相同（SP pass ×96）；区别只在 fused MoE 内部。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63240" y="987552"/>
            <a:ext cx="6080760" cy="292608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93B"/>
                </a:solidFill>
                <a:latin typeface="Microsoft YaHei"/>
              </a:rPr>
              <a:t>After（SP ×96，同情况 ②）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63240" y="1325880"/>
            <a:ext cx="6080760" cy="305943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334155"/>
                </a:solidFill>
                <a:latin typeface="Consolas"/>
              </a:rPr>
              <a:t>上一层 MoE 输出（完整 tensor）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334155"/>
                </a:solidFill>
                <a:latin typeface="Consolas"/>
              </a:rPr>
              <a:t>[T, 2048]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3240" y="1631823"/>
            <a:ext cx="608076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1709547"/>
            <a:ext cx="6080760" cy="305943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reduce_scatter (TP)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[T, 2048] → [T/2, 2048]</a:t>
            </a:r>
            <a:r>
              <a:rPr sz="700" b="0">
                <a:solidFill>
                  <a:srgbClr val="FFFFFF"/>
                </a:solidFill>
                <a:latin typeface="Microsoft YaHei"/>
              </a:rPr>
              <a:t>  ·  充当 expert combine 的前半段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2015490"/>
            <a:ext cx="608076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2093214"/>
            <a:ext cx="6080760" cy="305943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maybe_chunk_residual + npu_add_rms_norm_bias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[T/2, 2048]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399157"/>
            <a:ext cx="608076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2476881"/>
            <a:ext cx="6080760" cy="305943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all_gather (TP)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[T/2, 2048] → [T, 2048]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782824"/>
            <a:ext cx="608076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2860548"/>
            <a:ext cx="6080760" cy="305943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unquantized_gemm (qkv_proj)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[T, 2048] × [2048, 2560] → [T, 2560]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3166491"/>
            <a:ext cx="608076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3244215"/>
            <a:ext cx="6080760" cy="305943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qkv_rmsnorm_rope + unified_attention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q [T, 16, 128] / kv [T, 2, 128] → [T, 2048]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550158"/>
            <a:ext cx="608076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63240" y="3627882"/>
            <a:ext cx="6080760" cy="305943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unquantized_gemm (o_proj)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[T, 2048] × [2048, 2048] → [T, 2048]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3933825"/>
            <a:ext cx="608076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63240" y="4011549"/>
            <a:ext cx="6080760" cy="305943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reduce_scatter (TP)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[T, 2048] → [T/2, 2048]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4317492"/>
            <a:ext cx="608076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63240" y="4395216"/>
            <a:ext cx="6080760" cy="305943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maybe_chunk_residual + npu_add_rms_norm_bias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[T/2, 2048]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4701159"/>
            <a:ext cx="608076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63240" y="4778883"/>
            <a:ext cx="6080760" cy="305943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all_gather (TP)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[T/2, 2048] → [T, 2048]</a:t>
            </a:r>
            <a:r>
              <a:rPr sz="700" b="0">
                <a:solidFill>
                  <a:srgbClr val="FFFFFF"/>
                </a:solidFill>
                <a:latin typeface="Microsoft YaHei"/>
              </a:rPr>
              <a:t>  ·  充当 expert dispatch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5084826"/>
            <a:ext cx="608076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63240" y="5162550"/>
            <a:ext cx="6080760" cy="305943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unquantized_gemm (gate / router)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[T, 2048] × [2048, 128] → [T, 128]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63240" y="5468493"/>
            <a:ext cx="6080760" cy="777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4A3B8"/>
                </a:solidFill>
                <a:latin typeface="Microsoft YaHei"/>
              </a:rPr>
              <a:t>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63240" y="5546217"/>
            <a:ext cx="6080760" cy="305943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onsolas"/>
              </a:rPr>
              <a:t>moe_forward</a:t>
            </a:r>
          </a:p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onsolas"/>
              </a:rPr>
              <a:t>in [T, 2048] → out [T, 2048]</a:t>
            </a:r>
            <a:r>
              <a:rPr sz="700" b="0">
                <a:solidFill>
                  <a:srgbClr val="FFFFFF"/>
                </a:solidFill>
                <a:latin typeface="Microsoft YaHei"/>
              </a:rPr>
              <a:t>  ·  无 all2all；expert 按 TP 切分（intermediate 768 → 384/rank）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925312"/>
            <a:ext cx="1129284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" rIns="109728" bIns="9144" rtlCol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E293B"/>
                </a:solidFill>
                <a:latin typeface="Microsoft YaHei"/>
              </a:rPr>
              <a:t>• </a:t>
            </a:r>
            <a:r>
              <a:rPr sz="950" b="0">
                <a:solidFill>
                  <a:srgbClr val="1E293B"/>
                </a:solidFill>
                <a:latin typeface="Microsoft YaHei"/>
              </a:rPr>
              <a:t>MoE 内部无 all2all：expert 权重按 TP 切分（moe_intermediate 768 → 384/rank），输入输出均为 [T, 2048] 完整 tensor。</a:t>
            </a:r>
          </a:p>
          <a:p>
            <a:pPr algn="l">
              <a:lnSpc>
                <a:spcPct val="100000"/>
              </a:lnSpc>
            </a:pPr>
            <a:r>
              <a:rPr sz="1050" b="1">
                <a:solidFill>
                  <a:srgbClr val="1E293B"/>
                </a:solidFill>
                <a:latin typeface="Microsoft YaHei"/>
              </a:rPr>
              <a:t>• </a:t>
            </a:r>
            <a:r>
              <a:rPr sz="950" b="0">
                <a:solidFill>
                  <a:srgbClr val="1E293B"/>
                </a:solidFill>
                <a:latin typeface="Microsoft YaHei"/>
              </a:rPr>
              <a:t>MoE 前的 all_gather 实际充当 expert </a:t>
            </a:r>
            <a:r>
              <a:rPr sz="950" b="1">
                <a:solidFill>
                  <a:srgbClr val="1E293B"/>
                </a:solidFill>
                <a:latin typeface="Microsoft YaHei"/>
              </a:rPr>
              <a:t>dispatch</a:t>
            </a:r>
            <a:r>
              <a:rPr sz="950" b="0">
                <a:solidFill>
                  <a:srgbClr val="1E293B"/>
                </a:solidFill>
                <a:latin typeface="Microsoft YaHei"/>
              </a:rPr>
              <a:t>，MoE 后的 reduce_scatter + all_gather 充当 </a:t>
            </a:r>
            <a:r>
              <a:rPr sz="950" b="1">
                <a:solidFill>
                  <a:srgbClr val="1E293B"/>
                </a:solidFill>
                <a:latin typeface="Microsoft YaHei"/>
              </a:rPr>
              <a:t>combine</a:t>
            </a:r>
            <a:r>
              <a:rPr sz="950" b="0">
                <a:solidFill>
                  <a:srgbClr val="1E293B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square" lIns="0" tIns="9144" rIns="0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293B"/>
                </a:solidFill>
                <a:latin typeface="Microsoft YaHei"/>
              </a:rPr>
              <a:t>三种模式对比总结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868680"/>
          <a:ext cx="11292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Microsoft YaHei"/>
                        </a:rPr>
                        <a:t>配置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Microsoft YaHei"/>
                        </a:rPr>
                        <a:t>fused MoE 输入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Microsoft YaHei"/>
                        </a:rPr>
                        <a:t>MoE 内部通信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Microsoft YaHei"/>
                        </a:rPr>
                        <a:t>fused MoE 输出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Microsoft YaHei"/>
                        </a:rPr>
                        <a:t>pass 替换数（48 层）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Microsoft YaHei"/>
                        </a:rPr>
                        <a:t>替换后每层外部通信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E293B"/>
                          </a:solidFill>
                          <a:latin typeface="Microsoft YaHei"/>
                        </a:rPr>
                        <a:t>SP + EP MoE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E293B"/>
                          </a:solidFill>
                          <a:latin typeface="Microsoft YaHei"/>
                        </a:rPr>
                        <a:t>DP2 / TP2 / EP4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E293B"/>
                          </a:solidFill>
                          <a:latin typeface="Microsoft YaHei"/>
                        </a:rPr>
                        <a:t>[T/2, 2048] 分片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E293B"/>
                          </a:solidFill>
                          <a:latin typeface="Microsoft YaHei"/>
                        </a:rPr>
                        <a:t>EP all2all，无最终 all_reduce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E293B"/>
                          </a:solidFill>
                          <a:latin typeface="Microsoft YaHei"/>
                        </a:rPr>
                        <a:t>[T/2, 2048] 分片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E293B"/>
                          </a:solidFill>
                          <a:latin typeface="Microsoft YaHei"/>
                        </a:rPr>
                        <a:t>SP ×48 + MoE ×96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E293B"/>
                          </a:solidFill>
                          <a:latin typeface="Microsoft YaHei"/>
                        </a:rPr>
                        <a:t>1 all_gather + 1 reduce_scatter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E293B"/>
                          </a:solidFill>
                          <a:latin typeface="Microsoft YaHei"/>
                        </a:rPr>
                        <a:t>TP（EP on）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E293B"/>
                          </a:solidFill>
                          <a:latin typeface="Microsoft YaHei"/>
                        </a:rPr>
                        <a:t>DP1 / TP2 / EP2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E293B"/>
                          </a:solidFill>
                          <a:latin typeface="Microsoft YaHei"/>
                        </a:rPr>
                        <a:t>[T, 2048] 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E293B"/>
                          </a:solidFill>
                          <a:latin typeface="Microsoft YaHei"/>
                        </a:rPr>
                        <a:t>EP all2all + 最终 TP all_reduce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E293B"/>
                          </a:solidFill>
                          <a:latin typeface="Microsoft YaHei"/>
                        </a:rPr>
                        <a:t>[T, 2048] 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E293B"/>
                          </a:solidFill>
                          <a:latin typeface="Microsoft YaHei"/>
                        </a:rPr>
                        <a:t>SP ×96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E293B"/>
                          </a:solidFill>
                          <a:latin typeface="Microsoft YaHei"/>
                        </a:rPr>
                        <a:t>2 all_gather + 2 reduce_scatter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E293B"/>
                          </a:solidFill>
                          <a:latin typeface="Microsoft YaHei"/>
                        </a:rPr>
                        <a:t>TP（EP off）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E293B"/>
                          </a:solidFill>
                          <a:latin typeface="Microsoft YaHei"/>
                        </a:rPr>
                        <a:t>TP2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E293B"/>
                          </a:solidFill>
                          <a:latin typeface="Microsoft YaHei"/>
                        </a:rPr>
                        <a:t>[T, 2048] 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E293B"/>
                          </a:solidFill>
                          <a:latin typeface="Microsoft YaHei"/>
                        </a:rPr>
                        <a:t>无 all2all；expert 按 TP 切分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E293B"/>
                          </a:solidFill>
                          <a:latin typeface="Microsoft YaHei"/>
                        </a:rPr>
                        <a:t>[T, 2048] 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E293B"/>
                          </a:solidFill>
                          <a:latin typeface="Microsoft YaHei"/>
                        </a:rPr>
                        <a:t>SP ×96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E293B"/>
                          </a:solidFill>
                          <a:latin typeface="Microsoft YaHei"/>
                        </a:rPr>
                        <a:t>2 all_gather + 2 reduce_scatter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57200" y="2880360"/>
            <a:ext cx="112928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" rIns="164592" bIns="9144" rtlCol="0" anchor="ctr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93B"/>
                </a:solidFill>
                <a:latin typeface="Microsoft YaHei"/>
              </a:rPr>
              <a:t>一句话理解：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93B"/>
                </a:solidFill>
                <a:latin typeface="Microsoft YaHei"/>
              </a:rPr>
              <a:t>SP+EP MoE 模式下 MoE 输出</a:t>
            </a:r>
            <a:r>
              <a:rPr sz="1100" b="1">
                <a:solidFill>
                  <a:srgbClr val="1E293B"/>
                </a:solidFill>
                <a:latin typeface="Microsoft YaHei"/>
              </a:rPr>
              <a:t>天然就是分片</a:t>
            </a:r>
            <a:r>
              <a:rPr sz="1100" b="0">
                <a:solidFill>
                  <a:srgbClr val="1E293B"/>
                </a:solidFill>
                <a:latin typeface="Microsoft YaHei"/>
              </a:rPr>
              <a:t>，任何「gather 完整 tensor」的动作都是浪费，MoE pass 的全部工作就是把这两处浪费消掉；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93B"/>
                </a:solidFill>
                <a:latin typeface="Microsoft YaHei"/>
              </a:rPr>
              <a:t>而 TP 模式下 MoE 要完整 tensor，SP pass 只能在 norm 前后做 reduce_scatter / all_gather 配对，通信次数降不下来。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93B"/>
                </a:solidFill>
                <a:latin typeface="Microsoft YaHei"/>
              </a:rPr>
              <a:t>上游 vLLM 的做法是 all_gather 后 slice 成分片输入，效果类似但多一次 gather。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48640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</a:rPr>
              <a:t>通信算子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52728" y="5486400"/>
            <a:ext cx="2468880" cy="292608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</a:rPr>
              <a:t>AddRMSNorm（含 residual）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58768" y="548640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</a:rPr>
              <a:t>GEMM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54296" y="5486400"/>
            <a:ext cx="1161288" cy="292608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</a:rPr>
              <a:t>Attention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52744" y="5486400"/>
            <a:ext cx="1161288" cy="292608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</a:rPr>
              <a:t>fused MoE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51192" y="5486400"/>
            <a:ext cx="960120" cy="2926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334155"/>
                </a:solidFill>
                <a:latin typeface="Microsoft YaHei"/>
              </a:rPr>
              <a:t>层间输入/输出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48472" y="5486400"/>
            <a:ext cx="1463040" cy="2926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94A3B8"/>
                </a:solidFill>
                <a:latin typeface="Microsoft YaHei"/>
              </a:rPr>
              <a:t>被 pass 消除的算子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3940</TotalTime>
  <Words>2383</Words>
  <Application>Microsoft Office PowerPoint</Application>
  <PresentationFormat>宽屏</PresentationFormat>
  <Paragraphs>251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1" baseType="lpstr">
      <vt:lpstr>等线</vt:lpstr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xurongsheng</cp:lastModifiedBy>
  <cp:revision>3</cp:revision>
  <dcterms:created xsi:type="dcterms:W3CDTF">2013-01-27T09:14:16Z</dcterms:created>
  <dcterms:modified xsi:type="dcterms:W3CDTF">2026-08-06T09:13:43Z</dcterms:modified>
  <cp:category/>
</cp:coreProperties>
</file>